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BB3516-8755-48C4-9497-CD83627E38CC}">
  <a:tblStyle styleId="{48BB3516-8755-48C4-9497-CD83627E38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5" name="Google Shape;52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3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915400" y="-1874520"/>
            <a:ext cx="4754880" cy="475488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555480" y="-1234440"/>
            <a:ext cx="3474720" cy="347472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195560" y="-594360"/>
            <a:ext cx="2194560" cy="219456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9418320" y="548640"/>
            <a:ext cx="4754880" cy="475488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0058400" y="1188720"/>
            <a:ext cx="3474720" cy="347472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698480" y="1828800"/>
            <a:ext cx="2194560" cy="219456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02920" y="39503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PMCA698J   ·   DISSERTATION-I / INTERNSHIP-1   ·   REVIEW-1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1270054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Calibri"/>
              <a:buNone/>
            </a:pPr>
            <a:r>
              <a:rPr lang="en-US" sz="7200" b="1" i="0" u="none" strike="noStrike" cap="none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TAIS</a:t>
            </a:r>
            <a:endParaRPr sz="7200" b="0" i="0" u="none" strike="noStrike" cap="none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02920" y="2251510"/>
            <a:ext cx="87782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2200"/>
              <a:buFont typeface="Calibri"/>
              <a:buNone/>
            </a:pPr>
            <a:r>
              <a:rPr lang="en-US" sz="2200" b="0" i="1" u="none" strike="noStrike" cap="none" dirty="0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A Telemetry Assessment and Integrity System for AIS-140 Vehicle Tracking</a:t>
            </a:r>
            <a:endParaRPr sz="2200"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02920" y="32515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2920" y="3514006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Aryan Bhagat  ·  25MCA0022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02920" y="3944759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02920" y="4191647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Sathiyamoorthy E, Professor Grade 2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02920" y="4624139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02920" y="4869288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 Applications, SCORE  ·  Fall Semester 2026-2027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02920" y="530352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02920" y="5546929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 August 2026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02920" y="62636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1100"/>
              <a:buFont typeface="Calibri"/>
              <a:buNone/>
            </a:pPr>
            <a:r>
              <a:rPr lang="en-US" sz="1600" b="0" i="1" u="none" strike="noStrike" cap="none" dirty="0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VIT – School of Computer Science Engineering and Information Systems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What We'll Cover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02920" y="16002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31520" y="1764792"/>
            <a:ext cx="1188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874520" y="180136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Introduction &amp; Problem Statement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874520" y="2313432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Why AIS-140 telemetry integrity matters now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309360" y="16002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537960" y="1764792"/>
            <a:ext cx="1188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680960" y="180136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Objectives &amp; Scope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680960" y="2313432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What TAIS sets out to build — and deliberately won't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02920" y="313639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731520" y="3300984"/>
            <a:ext cx="1188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874520" y="333756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Proposed System &amp; Trust Score Engine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874520" y="3849624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The 5-stage pipeline and scoring formula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309360" y="313639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6537960" y="3300984"/>
            <a:ext cx="1188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680960" y="333756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Literature Survey &amp; Research Gap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680960" y="3849624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16 papers reviewed — where TAIS fits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02920" y="4672584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31520" y="4837176"/>
            <a:ext cx="1188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874520" y="4873752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Methodology, Requirements &amp; Architecture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874520" y="5385816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Evaluation plan, FR/NFR, system design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309360" y="4672584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6537960" y="4837176"/>
            <a:ext cx="11887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680960" y="4873752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UML Diagrams &amp; Summary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680960" y="5385816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Use case, class diagram, and takeaways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02920" y="1554480"/>
            <a:ext cx="649224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India's AIS-140 standard mandates GPS/NavIC-based vehicle tracking on all commercial vehicles — and this same telemetry now underpins the country's transition to GNSS-based satellite tolling, where a vehicle's reported GPS position will directly determine the toll charged. Existing tamper detection is physical-only; nothing verifies whether the telemetry data itself is internally consistent. TAIS is a server-side system that assesses AIS-140 telemetry integrity by computing a weighted Trust Score (0–100) with an explained confidence level — operating entirely on fields the standard already transmits, with zero hardware changes.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02920" y="3977640"/>
            <a:ext cx="6492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900"/>
              <a:buFont typeface="Calibri"/>
              <a:buNone/>
            </a:pPr>
            <a:r>
              <a:rPr lang="en-US" sz="1900" b="1" i="1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Four independent checks. One transparent score. Zero black boxes.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02920" y="5623560"/>
            <a:ext cx="6492240" cy="777240"/>
          </a:xfrm>
          <a:prstGeom prst="roundRect">
            <a:avLst>
              <a:gd name="adj" fmla="val 10588"/>
            </a:avLst>
          </a:prstGeom>
          <a:solidFill>
            <a:srgbClr val="D7E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731520" y="5623560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Keywords:  </a:t>
            </a:r>
            <a:r>
              <a:rPr lang="en-US" sz="110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AIS-140 · GNSS Integrity · Telemetry Trust Scoring · Vehicle Tracking · Spoofing Detection · Satellite Tolling · Anomaly Detection · Kinematic Plausibility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772400" y="1554480"/>
            <a:ext cx="3913632" cy="1325880"/>
          </a:xfrm>
          <a:prstGeom prst="roundRect">
            <a:avLst>
              <a:gd name="adj" fmla="val 6897"/>
            </a:avLst>
          </a:prstGeom>
          <a:solidFill>
            <a:srgbClr val="0E1B33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8001000" y="166420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8001000" y="2231136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Independent Consistency Checks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8001000" y="252374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Motion · Trajectory · Signal Quality · Temporal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772400" y="3035808"/>
            <a:ext cx="3913632" cy="1325880"/>
          </a:xfrm>
          <a:prstGeom prst="roundRect">
            <a:avLst>
              <a:gd name="adj" fmla="val 6897"/>
            </a:avLst>
          </a:prstGeom>
          <a:solidFill>
            <a:srgbClr val="0E1B33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001000" y="3145536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0–100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001000" y="371246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Explainable Trust Score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001000" y="400507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With a High / Medium / Low confidence level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772400" y="4517136"/>
            <a:ext cx="3913632" cy="1325880"/>
          </a:xfrm>
          <a:prstGeom prst="roundRect">
            <a:avLst>
              <a:gd name="adj" fmla="val 6897"/>
            </a:avLst>
          </a:prstGeom>
          <a:solidFill>
            <a:srgbClr val="0E1B33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001000" y="4626864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001000" y="519379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Required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001000" y="548640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Simulation-first — real device feed is future work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3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02920" y="1572768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77240" y="1847088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6" descr="/home/claude/pptx_work/icons/radio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641" y="19944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/>
          <p:nvPr/>
        </p:nvSpPr>
        <p:spPr>
          <a:xfrm>
            <a:off x="1554480" y="1865376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Mandatory &amp; Enforced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95528" y="2468880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AIS-140, mandated by MoRTH and certified by ARAI, requires every commercial vehicle in India to run GPS/NavIC tracking — strict since 2018, tightened further in 2023.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309360" y="1572768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583680" y="1847088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6" descr="/home/claude/pptx_work/icons/trendingUp_nav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1081" y="19944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7360920" y="1865376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New Financial Layer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601968" y="2468880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MoRTH has announced GNSS-based satellite tolling — continuously reported GPS location, not a toll booth, will decide the charge. Pilots are live on NH-275 and NH-709.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02920" y="3739896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77240" y="401421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6" descr="/home/claude/pptx_work/icons/eye_nav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4641" y="416161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554480" y="4032504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Blind Spot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95528" y="4636008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Tamper detection today is physical-only — enclosure breach, SIM removal. Nothing checks whether the position, speed, and heading reported are internally consistent.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309360" y="3739896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6583680" y="401421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6" descr="/home/claude/pptx_work/icons/shieldCheck_navy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1081" y="416161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7360920" y="4032504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TAIS's Response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601968" y="4636008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A server-side system computing a Trust Score with an explained confidence level — flagging implausible data before it reaches a billing decision.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3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THE GAP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02920" y="1600200"/>
            <a:ext cx="3584448" cy="2788920"/>
          </a:xfrm>
          <a:prstGeom prst="roundRect">
            <a:avLst>
              <a:gd name="adj" fmla="val 2951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758952" y="1810512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758952" y="17967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58952" y="2395728"/>
            <a:ext cx="307238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Physical-Only Detection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58952" y="3063240"/>
            <a:ext cx="3072384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AIS-140's tamper protection flags enclosure breach or SIM removal — never whether the telemetry itself is internally consistent.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306824" y="1600200"/>
            <a:ext cx="3584448" cy="2788920"/>
          </a:xfrm>
          <a:prstGeom prst="roundRect">
            <a:avLst>
              <a:gd name="adj" fmla="val 2951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562856" y="1810512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562856" y="17967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62856" y="2395728"/>
            <a:ext cx="307238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Compliance → Financial Risk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62856" y="3063240"/>
            <a:ext cx="3072384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Under GNSS tolling, that blind spot becomes a real-time billing risk: inconsistent data could over- or under-charge a vehicle owner.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110728" y="1600200"/>
            <a:ext cx="3584448" cy="2788920"/>
          </a:xfrm>
          <a:prstGeom prst="roundRect">
            <a:avLst>
              <a:gd name="adj" fmla="val 2951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8366760" y="1810512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366760" y="17967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366760" y="2395728"/>
            <a:ext cx="307238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No Interpretable Fix Exists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366760" y="3063240"/>
            <a:ext cx="3072384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RAIM needs raw receiver data AIS-140 never exposes; telematics scores driver behaviour, not authenticity; ML trajectory models are black boxes.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02920" y="4617720"/>
            <a:ext cx="11183112" cy="1417320"/>
          </a:xfrm>
          <a:prstGeom prst="roundRect">
            <a:avLst>
              <a:gd name="adj" fmla="val 6452"/>
            </a:avLst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822960" y="4754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822960" y="5047488"/>
            <a:ext cx="105613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500"/>
              <a:buFont typeface="Calibri"/>
              <a:buNone/>
            </a:pPr>
            <a:r>
              <a:rPr lang="en-US" sz="1500" b="1" i="1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Can a server-side system, using only the fields AIS-140 already transmits, reliably tell physically plausible telemetry from implausible telemetry — and explain that distinction well enough to support a real billing decision?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02920" y="1572768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04088" y="1682496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645920" y="1719072"/>
            <a:ext cx="397764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Characterize the available data — document which AIS-140 backend fields are confirmed vs. assumed (completed Week 1).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309360" y="1572768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6510528" y="1682496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7452360" y="1719072"/>
            <a:ext cx="397764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Build a scenario-driven telemetry simulator generating labelled, realistic sequences for highway, city, and degraded-signal conditions.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02920" y="3236976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704088" y="3346704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645920" y="3383280"/>
            <a:ext cx="397764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Design a rule-based Trust-Scoring Engine flagging kinematic inconsistency across 4 sub-scores, with explanation and confidence level.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309360" y="3236976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510528" y="3346704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7452360" y="3383280"/>
            <a:ext cx="3977640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Demonstrate end-to-end via a dashboard visualizing scores, per-flag explanations, and tiered actions (Normal / Flagged / Escalate).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2920" y="4901184"/>
            <a:ext cx="11155680" cy="896112"/>
          </a:xfrm>
          <a:prstGeom prst="roundRect">
            <a:avLst>
              <a:gd name="adj" fmla="val 9184"/>
            </a:avLst>
          </a:prstGeom>
          <a:solidFill>
            <a:srgbClr val="0E1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777240" y="4992624"/>
            <a:ext cx="10058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691640" y="4901184"/>
            <a:ext cx="96926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quantitatively using precision, recall, F1-score, detection latency, and false-positive rate against labelled ground truth.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3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BOUNDARIES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 of the Project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02920" y="1536192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EEF3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777240" y="1737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9E62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F9E62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21671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/>
          <p:nvPr/>
        </p:nvSpPr>
        <p:spPr>
          <a:xfrm>
            <a:off x="1088136" y="2093976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Telemetry-level consistency checks using only currently-mandated AIS-140 fields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272948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1088136" y="265633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Simulated data generation for 3 driving scenarios — highway, city, degraded signal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32918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1088136" y="321868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6 deliberately injected anomaly types (position jump, drift, speed injection, heading change, replay, GPS freeze)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38541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1088136" y="378104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Rule-based trust scoring across 4 sub-dimensions with a weighted composite score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441655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1088136" y="43434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Human-readable explanation generation with confidence levels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49789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1088136" y="4905756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Dashboard visualization with tiered response (Normal / Flagged / Escalate)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240" y="55412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1088136" y="546811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Quantitative evaluation against labelled ground truth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263640" y="1536192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17294B"/>
          </a:solidFill>
          <a:ln w="12700" cap="flat" cmpd="sng">
            <a:solidFill>
              <a:srgbClr val="F2A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6537960" y="1737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OUT OF SCOPE — FUTURE WORK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9" descr="/home/claude/pptx_work/icons/xCircle_amb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7960" y="21671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6848856" y="2093976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No RF signal transmission of any kind (illegal and unnecessary)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9" descr="/home/claude/pptx_work/icons/xCircle_amb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7960" y="27889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9"/>
          <p:cNvSpPr/>
          <p:nvPr/>
        </p:nvSpPr>
        <p:spPr>
          <a:xfrm>
            <a:off x="6848856" y="2715768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No live integration with government / NHAI billing servers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9" descr="/home/claude/pptx_work/icons/xCircle_amb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7960" y="34107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6848856" y="333756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No claim to detect anomaly cause (spoofing vs. tunnel) — TAIS flags implausibility, not intent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9" descr="/home/claude/pptx_work/icons/xCircle_amb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7960" y="41970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6848856" y="4123944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No real-world field data collection — simulation-first by design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9" descr="/home/claude/pptx_work/icons/xCircle_amb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7960" y="48188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/>
          <p:nvPr/>
        </p:nvSpPr>
        <p:spPr>
          <a:xfrm>
            <a:off x="6848856" y="4745736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No modifications to vehicle-side AIS-140 hardware or firmware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Proposed System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02920" y="132588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TAIS is a server-side telemetry assessment system built as a five-stage pipeline — from synthetic data generation through to an auditable, explained decision.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179576" y="1965960"/>
            <a:ext cx="731520" cy="731520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" name="Google Shape;218;p10" descr="/home/claude/pptx_work/icons/radio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9771" y="215615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1691640" y="1965960"/>
            <a:ext cx="292608" cy="292608"/>
          </a:xfrm>
          <a:prstGeom prst="rect">
            <a:avLst/>
          </a:prstGeom>
          <a:solidFill>
            <a:srgbClr val="B97C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02920" y="2880360"/>
            <a:ext cx="20848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Telemetry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Simulator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48640" y="3429000"/>
            <a:ext cx="199339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Labelled sequences — Highway, City, Degraded Signal — on the locked schema.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2587752" y="2011680"/>
            <a:ext cx="18973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D7E3F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454146" y="1965960"/>
            <a:ext cx="731520" cy="731520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10" descr="/home/claude/pptx_work/icons/bug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4341" y="215615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3966210" y="1965960"/>
            <a:ext cx="292608" cy="292608"/>
          </a:xfrm>
          <a:prstGeom prst="rect">
            <a:avLst/>
          </a:prstGeom>
          <a:solidFill>
            <a:srgbClr val="B97C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2777490" y="2880360"/>
            <a:ext cx="20848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Anomaly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Injector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2823210" y="3429000"/>
            <a:ext cx="199339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Deliberately anomalous variants across 6 anomaly types from genuine logs.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862322" y="2011680"/>
            <a:ext cx="18973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D7E3F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728716" y="1965960"/>
            <a:ext cx="731520" cy="731520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p10" descr="/home/claude/pptx_work/icons/shieldCheck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18911" y="215615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6240780" y="1965960"/>
            <a:ext cx="292608" cy="292608"/>
          </a:xfrm>
          <a:prstGeom prst="rect">
            <a:avLst/>
          </a:prstGeom>
          <a:solidFill>
            <a:srgbClr val="B97C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052060" y="2880360"/>
            <a:ext cx="20848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Trust-Scoring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097780" y="3429000"/>
            <a:ext cx="199339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4 sub-scores fused into a weighted Trust Score (0–100).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136892" y="2011680"/>
            <a:ext cx="18973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D7E3F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8003286" y="1965960"/>
            <a:ext cx="731520" cy="731520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6" name="Google Shape;236;p10" descr="/home/claude/pptx_work/icons/message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3481" y="215615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8515350" y="1965960"/>
            <a:ext cx="292608" cy="292608"/>
          </a:xfrm>
          <a:prstGeom prst="rect">
            <a:avLst/>
          </a:prstGeom>
          <a:solidFill>
            <a:srgbClr val="B97C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7326630" y="2880360"/>
            <a:ext cx="20848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7372350" y="3429000"/>
            <a:ext cx="199339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Confidence level + specific triggered reasons for every score.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9411462" y="2011680"/>
            <a:ext cx="18973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D7E3F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10277856" y="1965960"/>
            <a:ext cx="731520" cy="731520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10" descr="/home/claude/pptx_work/icons/dashboard_whit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68051" y="215615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10789920" y="1965960"/>
            <a:ext cx="292608" cy="292608"/>
          </a:xfrm>
          <a:prstGeom prst="rect">
            <a:avLst/>
          </a:prstGeom>
          <a:solidFill>
            <a:srgbClr val="B97C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9601200" y="2880360"/>
            <a:ext cx="20848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9646920" y="3429000"/>
            <a:ext cx="199339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Scores over time, per-flag explanations, tiered response actions.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02920" y="5257800"/>
            <a:ext cx="11183112" cy="685800"/>
          </a:xfrm>
          <a:prstGeom prst="roundRect">
            <a:avLst>
              <a:gd name="adj" fmla="val 13333"/>
            </a:avLst>
          </a:prstGeom>
          <a:solidFill>
            <a:srgbClr val="0E1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02920" y="5257800"/>
            <a:ext cx="1118311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Simulator   ›   Anomaly Injector   ›   Trust-Scoring Engine   ›   Explanation Layer   ›   Dashboard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3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THE CORE CONTRIBUTION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 Score Engine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9524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300"/>
              <a:buFont typeface="Calibri"/>
              <a:buNone/>
            </a:pPr>
            <a:r>
              <a:rPr lang="en-US" sz="23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Trust Score</a:t>
            </a:r>
            <a:r>
              <a:rPr lang="en-US" sz="2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=  w</a:t>
            </a:r>
            <a:r>
              <a:rPr lang="en-US" sz="2300" b="1" i="0" u="none" strike="noStrike" cap="none" baseline="-2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(Motion) + w</a:t>
            </a:r>
            <a:r>
              <a:rPr lang="en-US" sz="2300" b="1" i="0" u="none" strike="noStrike" cap="none" baseline="-2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(Trajectory) + w</a:t>
            </a:r>
            <a:r>
              <a:rPr lang="en-US" sz="2300" b="1" i="0" u="none" strike="noStrike" cap="none" baseline="-2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(Signal Quality) + w</a:t>
            </a:r>
            <a:r>
              <a:rPr lang="en-US" sz="2300" b="1" i="0" u="none" strike="noStrike" cap="none" baseline="-2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(Temporal)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502920" y="269748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1527048" y="2926080"/>
            <a:ext cx="603504" cy="603504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" name="Google Shape;261;p11" descr="/home/claude/pptx_work/icons/activity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3959" y="308299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/>
          <p:nvPr/>
        </p:nvSpPr>
        <p:spPr>
          <a:xfrm>
            <a:off x="640080" y="36576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Motion Consistency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667512" y="416052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Is reported speed &amp; acceleration physically achievable?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3374136" y="269748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398264" y="2926080"/>
            <a:ext cx="603504" cy="603504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6" name="Google Shape;266;p11" descr="/home/claude/pptx_work/icons/navigation_nav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5175" y="308299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1"/>
          <p:cNvSpPr/>
          <p:nvPr/>
        </p:nvSpPr>
        <p:spPr>
          <a:xfrm>
            <a:off x="3511296" y="36576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Trajectory Consistency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538728" y="416052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Is the position sequence a plausible path — no teleports?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245352" y="269748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7269480" y="2926080"/>
            <a:ext cx="603504" cy="603504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1" name="Google Shape;271;p11" descr="/home/claude/pptx_work/icons/wifi_nav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26391" y="308299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1"/>
          <p:cNvSpPr/>
          <p:nvPr/>
        </p:nvSpPr>
        <p:spPr>
          <a:xfrm>
            <a:off x="6382512" y="36576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Signal Quality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409944" y="416052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HDOP/PDOP and satellite count vs. expected thresholds.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9116568" y="269748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10140696" y="2926080"/>
            <a:ext cx="603504" cy="603504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6" name="Google Shape;276;p11" descr="/home/claude/pptx_work/icons/clock_navy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97607" y="308299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1"/>
          <p:cNvSpPr/>
          <p:nvPr/>
        </p:nvSpPr>
        <p:spPr>
          <a:xfrm>
            <a:off x="9253728" y="36576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Temporal Consistency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9281160" y="4160520"/>
            <a:ext cx="232257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Timestamps in order, expected intervals, no replay.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02920" y="4828032"/>
            <a:ext cx="11183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Weights are domain-informed defaults, refined empirically during evaluation — chosen for interpretability and auditability over black-box accuracy.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508760" y="5440680"/>
            <a:ext cx="4297680" cy="56692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1508760" y="5440680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Confidence:  </a:t>
            </a:r>
            <a:r>
              <a:rPr lang="en-US" sz="1250" b="0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High  /  Medium  /  Low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080760" y="544068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6080760" y="5440680"/>
            <a:ext cx="54864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Action:  </a:t>
            </a:r>
            <a:r>
              <a:rPr lang="en-US" sz="1250" b="0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Normal  /  Flagged for Review  /  Escalate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SCOPE BOUNDARY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Threat Model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502920" y="1536192"/>
            <a:ext cx="5440680" cy="2788920"/>
          </a:xfrm>
          <a:prstGeom prst="roundRect">
            <a:avLst>
              <a:gd name="adj" fmla="val 2951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758952" y="1783080"/>
            <a:ext cx="512064" cy="512064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5" name="Google Shape;295;p12" descr="/home/claude/pptx_work/icons/shieldCheck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2089" y="191621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/>
          <p:nvPr/>
        </p:nvSpPr>
        <p:spPr>
          <a:xfrm>
            <a:off x="1417320" y="184708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9E62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2F9E62"/>
                </a:solidFill>
                <a:latin typeface="Calibri"/>
                <a:ea typeface="Calibri"/>
                <a:cs typeface="Calibri"/>
                <a:sym typeface="Calibri"/>
              </a:rPr>
              <a:t>Assumed Trusted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777240" y="251460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•  The backend server and its storage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777240" y="320040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•  The communication channel's authenticity, at the point the server receives the data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6263640" y="1536192"/>
            <a:ext cx="5440680" cy="2788920"/>
          </a:xfrm>
          <a:prstGeom prst="roundRect">
            <a:avLst>
              <a:gd name="adj" fmla="val 2951"/>
            </a:avLst>
          </a:prstGeom>
          <a:solidFill>
            <a:srgbClr val="0E1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6519672" y="1783080"/>
            <a:ext cx="512064" cy="512064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1" name="Google Shape;301;p12" descr="/home/claude/pptx_work/icons/bug_nav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2809" y="191621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2"/>
          <p:cNvSpPr/>
          <p:nvPr/>
        </p:nvSpPr>
        <p:spPr>
          <a:xfrm>
            <a:off x="7178040" y="1847088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Attacker (Vehicle Owner) Can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6537960" y="251460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•  Control or fabricate telemetry values before transmission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6537960" y="320040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•  Replay old, genuine telemetry as if it were current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02920" y="4526280"/>
            <a:ext cx="111831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Out of scope:  </a:t>
            </a:r>
            <a:r>
              <a:rPr lang="en-US" sz="120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Backend compromise, breaking channel cryptography, and physical device tampering — already covered by AIS-140's existing detection.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02920" y="5074920"/>
            <a:ext cx="11183112" cy="960120"/>
          </a:xfrm>
          <a:prstGeom prst="roundRect">
            <a:avLst>
              <a:gd name="adj" fmla="val 9524"/>
            </a:avLst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777240" y="5074920"/>
            <a:ext cx="1060704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Why server-side, not on-device:  </a:t>
            </a:r>
            <a:r>
              <a:rPr lang="en-US" sz="1300" b="0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the vehicle owner benefits most from faked telemetry — a check on their own device can't be trusted. Scoring belongs where the transport authority actually receives the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PROBLEM DEFINITION &amp; LITERATURE SURVEY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502920" y="658368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9692640" y="731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1 of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8" name="Google Shape;318;p13"/>
          <p:cNvGraphicFramePr/>
          <p:nvPr/>
        </p:nvGraphicFramePr>
        <p:xfrm>
          <a:off x="502920" y="1234440"/>
          <a:ext cx="11183125" cy="5074875"/>
        </p:xfrm>
        <a:graphic>
          <a:graphicData uri="http://schemas.openxmlformats.org/drawingml/2006/table">
            <a:tbl>
              <a:tblPr>
                <a:noFill/>
                <a:tableStyleId>{48BB3516-8755-48C4-9497-CD83627E38CC}</a:tableStyleId>
              </a:tblPr>
              <a:tblGrid>
                <a:gridCol w="50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 &amp; Title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Merits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Demerits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Huang et al. (2025)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survey of GNSS receiver autonomous integrity monitoring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Comprehensive taxonomy of RAIM techniques; highlights ML-based integrity monitoring.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Over-relies on aviation/simulated data; lacks realistic automotive datasets.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Martin (2020)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Advanced receiver autonomous integrity monitoring in tightly integrated GNSS/Inertial systems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Demonstrates tightly-coupled GNSS/IMU integration for robust integrity monitoring.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Needs receiver-level raw pseudorange &amp; continuous IMU access unavailable at AIS-140 backends.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Psiaki &amp; Humphreys (2016)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GNSS spoofing and detection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Foundational overview of GNSS spoofing mechanics and signal-level countermeasures.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Focuses on RF/receiver-level detection rather than backend telemetry checks.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Wu et al. (2020)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Spoofing and anti-spoofing technologies of GNSS: A survey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Comprehensive catalogue of anti-spoofing techniques across GNSS architecture.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Doesn't cover standardized post-receiver vehicle telemetry validation.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9" name="Google Shape;319;p13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PROBLEM DEFINITION &amp; LITERATURE SURVEY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502920" y="658368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9692640" y="731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2 of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p14"/>
          <p:cNvGraphicFramePr/>
          <p:nvPr/>
        </p:nvGraphicFramePr>
        <p:xfrm>
          <a:off x="502920" y="1234440"/>
          <a:ext cx="11183125" cy="5074875"/>
        </p:xfrm>
        <a:graphic>
          <a:graphicData uri="http://schemas.openxmlformats.org/drawingml/2006/table">
            <a:tbl>
              <a:tblPr>
                <a:noFill/>
                <a:tableStyleId>{48BB3516-8755-48C4-9497-CD83627E38CC}</a:tableStyleId>
              </a:tblPr>
              <a:tblGrid>
                <a:gridCol w="50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 &amp; Title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Merits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Demerits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Thombre et al. (2020)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GNSS threat monitoring and reporting: Past, present, and a proposed future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Catalogues intentional (spoofing/jamming) and unintentional (multipath) threats.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Focuses on threat reporting frameworks, not automated backend telemetry scoring.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Zidan et al. (2020)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GNSS vulnerabilities and existing solutions: A review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Systematic review of vulnerabilities across signal, receiver, and system layers.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Confirms absence of protection at the post-transmission backend telemetry stage.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Bhatti &amp; Humphreys (2017)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Hostile control of ships via false GPS signals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Real-world empirical proof of vehicle spoofing feasibility.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Limited to maritime receivers; doesn't address automotive telemetry standards.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Dasgupta et al. (2022)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sensor fusion-based GNSS spoofing attack detection framework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Kalman-filter GPS/IMU sensor fusion specifically for vehicular spoofing.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Assumes raw continuous IMU stream, whereas AIS-140 gives discrete boolean flags.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0" name="Google Shape;330;p14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PROBLEM DEFINITION &amp; LITERATURE SURVEY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502920" y="658368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9692640" y="731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3 of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0" name="Google Shape;340;p15"/>
          <p:cNvGraphicFramePr/>
          <p:nvPr/>
        </p:nvGraphicFramePr>
        <p:xfrm>
          <a:off x="502920" y="1234440"/>
          <a:ext cx="11183125" cy="5074875"/>
        </p:xfrm>
        <a:graphic>
          <a:graphicData uri="http://schemas.openxmlformats.org/drawingml/2006/table">
            <a:tbl>
              <a:tblPr>
                <a:noFill/>
                <a:tableStyleId>{48BB3516-8755-48C4-9497-CD83627E38CC}</a:tableStyleId>
              </a:tblPr>
              <a:tblGrid>
                <a:gridCol w="50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 &amp; Title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Merits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Demerits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Fakharian et al. (2011)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Kalman filtering based navigation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Kalman filtering for GPS/IMU navigation accuracy.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 for tunnel-type signal loss, not adversarial telemetry manipulation.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Zhang et al. (2005)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Navigation with IMU/GPS/digital compass with unscented Kalman filter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Unscented Kalman Filter for non-linear multi-sensor navigation fusion.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 on-board navigation filter, not a server-side audit mechanism.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Shen et al. (2019)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Integrated navigation accuracy improvement via multi-sensor fusion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Validates multi-sensor fusion for vehicular navigation accuracy.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Targets hardware-level sensor integration, not cloud telemetry.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Dhongade &amp; Khandekar (2019)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GPS and IMU integration on an autonomous vehicle using Kalman filter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Practical LabVIEW implementation of GPS/IMU trajectory tracking.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Lacks automated anomaly scoring or auditable explanation generation.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1" name="Google Shape;341;p15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PROBLEM DEFINITION &amp; LITERATURE SURVEY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502920" y="658368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9692640" y="731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4 of 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" name="Google Shape;351;p16"/>
          <p:cNvGraphicFramePr/>
          <p:nvPr/>
        </p:nvGraphicFramePr>
        <p:xfrm>
          <a:off x="502920" y="1234440"/>
          <a:ext cx="11183125" cy="5074875"/>
        </p:xfrm>
        <a:graphic>
          <a:graphicData uri="http://schemas.openxmlformats.org/drawingml/2006/table">
            <a:tbl>
              <a:tblPr>
                <a:noFill/>
                <a:tableStyleId>{48BB3516-8755-48C4-9497-CD83627E38CC}</a:tableStyleId>
              </a:tblPr>
              <a:tblGrid>
                <a:gridCol w="50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 &amp; Title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Merits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Demerits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Liu et al. (2020)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anomalous trajectory detection with deep generative sequence modeling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VAE-RNN sequence modeling detects anomalous GPS trajectories online.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Black-box classification — no per-decision explanation for billing disputes.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Song et al. (2018)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Anomalous trajectory detection using recurrent neural network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RNNs for temporal sequence-based trajectory anomaly detection.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Needs large training corpora; lacks AIS-140-specific field constraints.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Cao et al. (2024)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Anomaly detection for in-vehicle network using self-supervised learning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Advanced self-supervised vehicle-cloud anomaly detection.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Targets in-vehicle CAN bus traffic, not AIS-140 backend telemetry.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97C1E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B97C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1B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Semanjski et al. (2020)</a:t>
                      </a:r>
                      <a:br>
                        <a:rPr lang="en-US" sz="1050" b="1" u="none" strike="noStrike" cap="none">
                          <a:solidFill>
                            <a:srgbClr val="0E1B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950" i="1" u="none" strike="noStrike" cap="none">
                          <a:solidFill>
                            <a:srgbClr val="56708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Detecting GNSS spoofing using supervised machine learning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classifiers (RF, SVM, NN) achieving &gt;95% spoofing detection accuracy.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5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>
                          <a:solidFill>
                            <a:srgbClr val="3345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Relies on receiver-internal signal features (C/N0) not in AIS-140 packets.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9D6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3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2" name="Google Shape;352;p16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3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WHERE TAIS FITS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Findings &amp; Research Gap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502920" y="15544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758952" y="1783080"/>
            <a:ext cx="438912" cy="438912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758952" y="17693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1417320" y="175564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Wrong Layer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758952" y="2304288"/>
            <a:ext cx="483717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RAIM &amp; sensor fusion need raw receiver data — pseudoranges, continuous IMU — that AIS-140 backends never receive.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6309360" y="15544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6565392" y="1783080"/>
            <a:ext cx="438912" cy="438912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6565392" y="17693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7223760" y="175564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Unaddressed Gap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6565392" y="2304288"/>
            <a:ext cx="483717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Protection concentrates at signal/receiver stages; nobody checks the backend telemetry-reporting layer itself.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502920" y="333756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758952" y="3566160"/>
            <a:ext cx="438912" cy="438912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758952" y="35524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1417320" y="353872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Black-Box Ceiling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758952" y="4087368"/>
            <a:ext cx="483717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ML trajectory models (Liu 2020, Song 2018) detect anomalies but can't explain them — unusable for billing disputes.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6309360" y="333756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6565392" y="3566160"/>
            <a:ext cx="438912" cy="438912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6565392" y="35524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7223760" y="353872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No Labelled Data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6565392" y="4087368"/>
            <a:ext cx="483717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Huang et al. (2025) confirm real-world automotive GNSS-integrity datasets are scarce — motivating a simulation-first approach.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502920" y="534924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TAIS's Contribution:  </a:t>
            </a:r>
            <a:r>
              <a:rPr lang="en-US" sz="1250" b="0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a telemetry-level, not receiver-level, trust-scoring system with interpretable, explained outputs — built for AIS-140's regulatory context in India.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Methodology &amp; Evaluation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502920" y="1417320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TAIS implements a five-stage pipeline — Simulator → Anomaly Injector → Trust-Scoring Engine → Explanation Layer → Dashboard — evaluated with a labelled-simulation methodology, since no real-world spoofing-confirmed AIS-140 dataset exists.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502920" y="2331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502920" y="2697480"/>
            <a:ext cx="1508760" cy="502920"/>
          </a:xfrm>
          <a:prstGeom prst="roundRect">
            <a:avLst>
              <a:gd name="adj" fmla="val 50909"/>
            </a:avLst>
          </a:prstGeom>
          <a:solidFill>
            <a:srgbClr val="0E1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502920" y="26974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2212848" y="2697480"/>
            <a:ext cx="1234440" cy="502920"/>
          </a:xfrm>
          <a:prstGeom prst="roundRect">
            <a:avLst>
              <a:gd name="adj" fmla="val 50909"/>
            </a:avLst>
          </a:prstGeom>
          <a:solidFill>
            <a:srgbClr val="0E1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8"/>
          <p:cNvSpPr/>
          <p:nvPr/>
        </p:nvSpPr>
        <p:spPr>
          <a:xfrm>
            <a:off x="2212848" y="269748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3648456" y="269748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E1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8"/>
          <p:cNvSpPr/>
          <p:nvPr/>
        </p:nvSpPr>
        <p:spPr>
          <a:xfrm>
            <a:off x="3648456" y="26974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5266944" y="2697480"/>
            <a:ext cx="2240280" cy="502920"/>
          </a:xfrm>
          <a:prstGeom prst="roundRect">
            <a:avLst>
              <a:gd name="adj" fmla="val 50909"/>
            </a:avLst>
          </a:prstGeom>
          <a:solidFill>
            <a:srgbClr val="0E1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5266944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 Latency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7708392" y="2697480"/>
            <a:ext cx="2423160" cy="502920"/>
          </a:xfrm>
          <a:prstGeom prst="roundRect">
            <a:avLst>
              <a:gd name="adj" fmla="val 50909"/>
            </a:avLst>
          </a:prstGeom>
          <a:solidFill>
            <a:srgbClr val="0E1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7708392" y="26974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False-Positive Rate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502920" y="3520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TOOLS &amp; TECHNOLOGIES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502920" y="388620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E3EB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502920" y="38862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Python (pandas, NumPy)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3044952" y="3886200"/>
            <a:ext cx="3108960" cy="502920"/>
          </a:xfrm>
          <a:prstGeom prst="roundRect">
            <a:avLst>
              <a:gd name="adj" fmla="val 50909"/>
            </a:avLst>
          </a:prstGeom>
          <a:solidFill>
            <a:srgbClr val="E3EB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3044952" y="38862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scikit-learn (optional ML comparison)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6318504" y="3886200"/>
            <a:ext cx="2651760" cy="502920"/>
          </a:xfrm>
          <a:prstGeom prst="roundRect">
            <a:avLst>
              <a:gd name="adj" fmla="val 50909"/>
            </a:avLst>
          </a:prstGeom>
          <a:solidFill>
            <a:srgbClr val="E3EB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6318504" y="38862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Flask / Streamlit (dashboard)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9134856" y="3886200"/>
            <a:ext cx="2240280" cy="502920"/>
          </a:xfrm>
          <a:prstGeom prst="roundRect">
            <a:avLst>
              <a:gd name="adj" fmla="val 50909"/>
            </a:avLst>
          </a:prstGeom>
          <a:solidFill>
            <a:srgbClr val="E3EB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9134856" y="3886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GitHub (version control)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502920" y="4800600"/>
            <a:ext cx="11183112" cy="1325880"/>
          </a:xfrm>
          <a:prstGeom prst="roundRect">
            <a:avLst>
              <a:gd name="adj" fmla="val 6897"/>
            </a:avLst>
          </a:prstGeom>
          <a:solidFill>
            <a:srgbClr val="0E1B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777240" y="4800600"/>
            <a:ext cx="1060704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Threat Model:  </a:t>
            </a: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Attacker can manipulate telemetry pre-transmission or replay old data; backend server &amp; channel authenticity are assumed trusted.</a:t>
            </a:r>
            <a:b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Evaluation Methodology:  </a:t>
            </a: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Labelled simulated sequences stand in as ground truth, measured on degraded-signal baseline scenarios.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9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SOFTWARE REQUIREMENTS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502920" y="16002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5" name="Google Shape;425;p1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952" y="183794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9"/>
          <p:cNvSpPr/>
          <p:nvPr/>
        </p:nvSpPr>
        <p:spPr>
          <a:xfrm>
            <a:off x="1280160" y="178308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FR-01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1280160" y="2084832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Generate simulated AIS-140 telemetry for highway, city, and degraded-signal scenarios.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6309360" y="16002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9" name="Google Shape;429;p1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5392" y="183794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9"/>
          <p:cNvSpPr/>
          <p:nvPr/>
        </p:nvSpPr>
        <p:spPr>
          <a:xfrm>
            <a:off x="7086600" y="178308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FR-02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7086600" y="2084832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Inject 6 anomaly categories (position jump, drift, speed injection, heading change, replay, GPS freeze).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502920" y="318211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3" name="Google Shape;433;p1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952" y="341985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9"/>
          <p:cNvSpPr/>
          <p:nvPr/>
        </p:nvSpPr>
        <p:spPr>
          <a:xfrm>
            <a:off x="1280160" y="3364992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FR-03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1280160" y="3666744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Compute composite Trust Score (0–100) across 4 consistency sub-dimensions.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6309360" y="3182112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7" name="Google Shape;437;p1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5392" y="341985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9"/>
          <p:cNvSpPr/>
          <p:nvPr/>
        </p:nvSpPr>
        <p:spPr>
          <a:xfrm>
            <a:off x="7086600" y="3364992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FR-04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7086600" y="3666744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Generate human-readable explanations with confidence levels (High/Medium/Low).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502920" y="4764024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1" name="Google Shape;441;p1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952" y="500176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9"/>
          <p:cNvSpPr/>
          <p:nvPr/>
        </p:nvSpPr>
        <p:spPr>
          <a:xfrm>
            <a:off x="1280160" y="4946904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FR-05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1280160" y="5248656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Classify decisions into tiered actions (Normal / Flagged for review / Escalate).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6309360" y="4764024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3EBF5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5" name="Google Shape;445;p19" descr="/home/claude/pptx_work/icons/checkCircl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5392" y="500176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9"/>
          <p:cNvSpPr/>
          <p:nvPr/>
        </p:nvSpPr>
        <p:spPr>
          <a:xfrm>
            <a:off x="7086600" y="4946904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FR-06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7086600" y="5248656"/>
            <a:ext cx="42976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55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33455C"/>
                </a:solidFill>
                <a:latin typeface="Calibri"/>
                <a:ea typeface="Calibri"/>
                <a:cs typeface="Calibri"/>
                <a:sym typeface="Calibri"/>
              </a:rPr>
              <a:t>Provide a web dashboard for real-time visualization and report export.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3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SOFTWARE REQUIREMENTS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502920" y="1572768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0"/>
          <p:cNvSpPr/>
          <p:nvPr/>
        </p:nvSpPr>
        <p:spPr>
          <a:xfrm>
            <a:off x="777240" y="1847088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9" name="Google Shape;459;p20" descr="/home/claude/pptx_work/icons/zap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641" y="19944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0"/>
          <p:cNvSpPr/>
          <p:nvPr/>
        </p:nvSpPr>
        <p:spPr>
          <a:xfrm>
            <a:off x="1554480" y="1865376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795528" y="2487168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Trust Score computation within 100ms per telemetry window.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6309360" y="1572768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0"/>
          <p:cNvSpPr/>
          <p:nvPr/>
        </p:nvSpPr>
        <p:spPr>
          <a:xfrm>
            <a:off x="6583680" y="1847088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4" name="Google Shape;464;p20" descr="/home/claude/pptx_work/icons/trendingUp_nav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1081" y="19944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0"/>
          <p:cNvSpPr/>
          <p:nvPr/>
        </p:nvSpPr>
        <p:spPr>
          <a:xfrm>
            <a:off x="7360920" y="1865376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6601968" y="2487168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Support concurrent streams from at least 10 simulated devices.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502920" y="3739896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0"/>
          <p:cNvSpPr/>
          <p:nvPr/>
        </p:nvSpPr>
        <p:spPr>
          <a:xfrm>
            <a:off x="777240" y="401421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9" name="Google Shape;469;p20" descr="/home/claude/pptx_work/icons/fileText_nav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4641" y="416161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0"/>
          <p:cNvSpPr/>
          <p:nvPr/>
        </p:nvSpPr>
        <p:spPr>
          <a:xfrm>
            <a:off x="1554480" y="4032504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Auditability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795528" y="4654296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100% of scoring decisions accompanied by structured reason lists.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6309360" y="3739896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6583680" y="401421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4" name="Google Shape;474;p20" descr="/home/claude/pptx_work/icons/tool_navy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1081" y="4161617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0"/>
          <p:cNvSpPr/>
          <p:nvPr/>
        </p:nvSpPr>
        <p:spPr>
          <a:xfrm>
            <a:off x="7360920" y="4032504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Maintainability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6601968" y="4654296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Schema-locked architecture (src/schema.py) strictly enforced across all modules.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1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PROPOSED ARCHITECTURE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502920" y="1600200"/>
            <a:ext cx="457200" cy="457200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7" name="Google Shape;487;p21" descr="/home/claude/pptx_work/icons/radio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792" y="17190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1"/>
          <p:cNvSpPr/>
          <p:nvPr/>
        </p:nvSpPr>
        <p:spPr>
          <a:xfrm>
            <a:off x="1124712" y="15819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Telemetry Simulator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1124712" y="1847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Scenario-driven data generation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502920" y="2441448"/>
            <a:ext cx="457200" cy="457200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1" name="Google Shape;491;p21" descr="/home/claude/pptx_work/icons/bug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792" y="25603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1"/>
          <p:cNvSpPr/>
          <p:nvPr/>
        </p:nvSpPr>
        <p:spPr>
          <a:xfrm>
            <a:off x="1124712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Anomaly Injector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1124712" y="268833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6 anomaly types, software-only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502920" y="3282696"/>
            <a:ext cx="457200" cy="457200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21" descr="/home/claude/pptx_work/icons/shieldCheck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792" y="34015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1"/>
          <p:cNvSpPr/>
          <p:nvPr/>
        </p:nvSpPr>
        <p:spPr>
          <a:xfrm>
            <a:off x="1124712" y="32644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Trust-Scoring Engine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1124712" y="352958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4 sub-scores → weighted score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502920" y="4123944"/>
            <a:ext cx="457200" cy="457200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9" name="Google Shape;499;p21" descr="/home/claude/pptx_work/icons/message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792" y="42428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1"/>
          <p:cNvSpPr/>
          <p:nvPr/>
        </p:nvSpPr>
        <p:spPr>
          <a:xfrm>
            <a:off x="1124712" y="41056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Explanation 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1124712" y="43708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Confidence + triggered reasons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502920" y="4965192"/>
            <a:ext cx="457200" cy="457200"/>
          </a:xfrm>
          <a:prstGeom prst="ellipse">
            <a:avLst/>
          </a:prstGeom>
          <a:solidFill>
            <a:srgbClr val="0E1B33"/>
          </a:solidFill>
          <a:ln>
            <a:noFill/>
          </a:ln>
          <a:effectLst>
            <a:outerShdw blurRad="63500" dist="25400" dir="5400000" algn="bl" rotWithShape="0">
              <a:srgbClr val="0E1B33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" name="Google Shape;503;p21" descr="/home/claude/pptx_work/icons/dashboard_whit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1792" y="508406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1"/>
          <p:cNvSpPr/>
          <p:nvPr/>
        </p:nvSpPr>
        <p:spPr>
          <a:xfrm>
            <a:off x="1124712" y="49469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1124712" y="5212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Live view, tiered actions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502920" y="585216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Fig. 9.1 — server-side, no device-level access required.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5349240" y="1417320"/>
            <a:ext cx="63093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8" name="Google Shape;508;p21" descr="/mnt/user-data/uploads/system_architecture_1786115132484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32120" y="1600200"/>
            <a:ext cx="5943600" cy="470916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1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2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UML · FIG. 10.1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Use Case Diagram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3566160" y="1371600"/>
            <a:ext cx="50292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9" name="Google Shape;519;p22" descr="/mnt/user-data/uploads/use_case_diagram_1786115170155.png"/>
          <p:cNvPicPr preferRelativeResize="0"/>
          <p:nvPr/>
        </p:nvPicPr>
        <p:blipFill rotWithShape="1">
          <a:blip r:embed="rId3">
            <a:alphaModFix/>
          </a:blip>
          <a:srcRect l="-2041" r="-2041"/>
          <a:stretch/>
        </p:blipFill>
        <p:spPr>
          <a:xfrm>
            <a:off x="3749040" y="1554480"/>
            <a:ext cx="466344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2"/>
          <p:cNvSpPr/>
          <p:nvPr/>
        </p:nvSpPr>
        <p:spPr>
          <a:xfrm>
            <a:off x="502920" y="6355080"/>
            <a:ext cx="1118311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6708C"/>
              </a:buClr>
              <a:buSzPts val="100"/>
              <a:buFont typeface="Calibri"/>
              <a:buNone/>
            </a:pPr>
            <a:r>
              <a:rPr lang="en-US" sz="100" b="0" i="1" u="none" strike="noStrike" cap="none">
                <a:solidFill>
                  <a:srgbClr val="56708C"/>
                </a:solidFill>
                <a:latin typeface="Calibri"/>
                <a:ea typeface="Calibri"/>
                <a:cs typeface="Calibri"/>
                <a:sym typeface="Calibri"/>
              </a:rPr>
              <a:t>Four actors — AIS-140 Device, System Administrator, Transport Authority / Toll Operator, and Dashboard User — interact with the simulate-inject-score-explain core.</a:t>
            </a:r>
            <a:endParaRPr sz="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9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3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7C1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97C1E"/>
                </a:solidFill>
                <a:latin typeface="Calibri"/>
                <a:ea typeface="Calibri"/>
                <a:cs typeface="Calibri"/>
                <a:sym typeface="Calibri"/>
              </a:rPr>
              <a:t>UML · FIG. 10.2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B33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0E1B33"/>
                </a:solidFill>
                <a:latin typeface="Calibri"/>
                <a:ea typeface="Calibri"/>
                <a:cs typeface="Calibri"/>
                <a:sym typeface="Calibri"/>
              </a:rPr>
              <a:t>Class Diagram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3566160" y="1371600"/>
            <a:ext cx="5029200" cy="507492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E1B33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1" name="Google Shape;531;p23" descr="/mnt/user-data/uploads/class_diagram_1786115183567.png"/>
          <p:cNvPicPr preferRelativeResize="0"/>
          <p:nvPr/>
        </p:nvPicPr>
        <p:blipFill rotWithShape="1">
          <a:blip r:embed="rId3">
            <a:alphaModFix/>
          </a:blip>
          <a:srcRect t="-490" b="-490"/>
          <a:stretch/>
        </p:blipFill>
        <p:spPr>
          <a:xfrm>
            <a:off x="3749040" y="1554480"/>
            <a:ext cx="4663440" cy="470916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3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BB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A9BB0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3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4"/>
          <p:cNvSpPr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4"/>
          <p:cNvSpPr/>
          <p:nvPr/>
        </p:nvSpPr>
        <p:spPr>
          <a:xfrm>
            <a:off x="502920" y="65836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alibri"/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4"/>
          <p:cNvSpPr/>
          <p:nvPr/>
        </p:nvSpPr>
        <p:spPr>
          <a:xfrm>
            <a:off x="502920" y="1554480"/>
            <a:ext cx="11183112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This Review-1 deliverable presents the complete architectural and theoretical groundwork for TAIS — a timely response to a real operational gap in Indian transport infrastructure. By establishing a simulation-first methodology, a locked schema contract, a 5-stage processing pipeline, and an auditable rule-based trust scoring engine, TAIS provides a robust framework for detecting kinematically implausible vehicle data.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502920" y="3291840"/>
            <a:ext cx="3584448" cy="2286000"/>
          </a:xfrm>
          <a:prstGeom prst="roundRect">
            <a:avLst>
              <a:gd name="adj" fmla="val 3600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758952" y="3520440"/>
            <a:ext cx="30723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Interpretable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758952" y="4069080"/>
            <a:ext cx="3072384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Every score ships with specific triggered reasons — never a black-box number.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4"/>
          <p:cNvSpPr/>
          <p:nvPr/>
        </p:nvSpPr>
        <p:spPr>
          <a:xfrm>
            <a:off x="4306824" y="3291840"/>
            <a:ext cx="3584448" cy="2286000"/>
          </a:xfrm>
          <a:prstGeom prst="roundRect">
            <a:avLst>
              <a:gd name="adj" fmla="val 3600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4"/>
          <p:cNvSpPr/>
          <p:nvPr/>
        </p:nvSpPr>
        <p:spPr>
          <a:xfrm>
            <a:off x="4562856" y="3520440"/>
            <a:ext cx="30723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Auditable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4562856" y="4069080"/>
            <a:ext cx="3072384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100% of decisions carry structured, human-readable justification for billing disputes.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8110728" y="3291840"/>
            <a:ext cx="3584448" cy="2286000"/>
          </a:xfrm>
          <a:prstGeom prst="roundRect">
            <a:avLst>
              <a:gd name="adj" fmla="val 3600"/>
            </a:avLst>
          </a:prstGeom>
          <a:solidFill>
            <a:srgbClr val="17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4"/>
          <p:cNvSpPr/>
          <p:nvPr/>
        </p:nvSpPr>
        <p:spPr>
          <a:xfrm>
            <a:off x="8366760" y="3520440"/>
            <a:ext cx="30723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Zero Hardware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4"/>
          <p:cNvSpPr/>
          <p:nvPr/>
        </p:nvSpPr>
        <p:spPr>
          <a:xfrm>
            <a:off x="8366760" y="4069080"/>
            <a:ext cx="3072384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Simulation-first: no field deployment risk, architecture ready for a real feed later.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TAIS  |  Review-1  |  25MCA0022 – Aryan Bhagat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4"/>
          <p:cNvSpPr/>
          <p:nvPr/>
        </p:nvSpPr>
        <p:spPr>
          <a:xfrm>
            <a:off x="11140135" y="6537960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FA8C7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8FA8C7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3"/>
        </a:solidFill>
        <a:effectLst/>
      </p:bgPr>
    </p:bg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5"/>
          <p:cNvSpPr/>
          <p:nvPr/>
        </p:nvSpPr>
        <p:spPr>
          <a:xfrm>
            <a:off x="8915400" y="-1874520"/>
            <a:ext cx="4754880" cy="475488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5"/>
          <p:cNvSpPr/>
          <p:nvPr/>
        </p:nvSpPr>
        <p:spPr>
          <a:xfrm>
            <a:off x="9555480" y="-1234440"/>
            <a:ext cx="3474720" cy="347472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5"/>
          <p:cNvSpPr/>
          <p:nvPr/>
        </p:nvSpPr>
        <p:spPr>
          <a:xfrm>
            <a:off x="10195560" y="-594360"/>
            <a:ext cx="2194560" cy="219456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5"/>
          <p:cNvSpPr/>
          <p:nvPr/>
        </p:nvSpPr>
        <p:spPr>
          <a:xfrm>
            <a:off x="-1554480" y="3931920"/>
            <a:ext cx="4754880" cy="475488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5"/>
          <p:cNvSpPr/>
          <p:nvPr/>
        </p:nvSpPr>
        <p:spPr>
          <a:xfrm>
            <a:off x="-914400" y="4572000"/>
            <a:ext cx="3474720" cy="347472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5"/>
          <p:cNvSpPr/>
          <p:nvPr/>
        </p:nvSpPr>
        <p:spPr>
          <a:xfrm>
            <a:off x="-274320" y="5212080"/>
            <a:ext cx="2194560" cy="2194560"/>
          </a:xfrm>
          <a:prstGeom prst="ellipse">
            <a:avLst/>
          </a:prstGeom>
          <a:noFill/>
          <a:ln w="15875" cap="flat" cmpd="sng">
            <a:solidFill>
              <a:srgbClr val="F2A93B">
                <a:alpha val="2196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5"/>
          <p:cNvSpPr/>
          <p:nvPr/>
        </p:nvSpPr>
        <p:spPr>
          <a:xfrm>
            <a:off x="502920" y="265176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lang="en-US" sz="5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5"/>
          <p:cNvSpPr/>
          <p:nvPr/>
        </p:nvSpPr>
        <p:spPr>
          <a:xfrm>
            <a:off x="502920" y="36118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5"/>
          <p:cNvSpPr/>
          <p:nvPr/>
        </p:nvSpPr>
        <p:spPr>
          <a:xfrm>
            <a:off x="502920" y="47777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Aryan Bhagat  ·  25MCA0022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502920" y="519379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CEF"/>
              </a:buClr>
              <a:buSzPts val="130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C9DCEF"/>
                </a:solidFill>
                <a:latin typeface="Calibri"/>
                <a:ea typeface="Calibri"/>
                <a:cs typeface="Calibri"/>
                <a:sym typeface="Calibri"/>
              </a:rPr>
              <a:t>Under the guidance of Dr. Sathiyamoorthy E, Professor Grade 2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2645</Words>
  <Application>Microsoft Office PowerPoint</Application>
  <PresentationFormat>Widescreen</PresentationFormat>
  <Paragraphs>390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 Bhagat</cp:lastModifiedBy>
  <cp:revision>2</cp:revision>
  <dcterms:modified xsi:type="dcterms:W3CDTF">2026-08-14T06:55:11Z</dcterms:modified>
</cp:coreProperties>
</file>